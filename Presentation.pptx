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  <p:sldMasterId id="2147483661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E28BC1-5443-4B43-9B87-032C70B4474B}">
  <a:tblStyle styleId="{01E28BC1-5443-4B43-9B87-032C70B4474B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2F7"/>
          </a:solidFill>
        </a:fill>
      </a:tcStyle>
    </a:wholeTbl>
    <a:band1H>
      <a:tcTxStyle/>
      <a:tcStyle>
        <a:tcBdr/>
        <a:fill>
          <a:solidFill>
            <a:srgbClr val="DCE5E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CE5E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409ba1d18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409ba1d18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  <a:defRPr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dt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ft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" name="Google Shape;48;p5"/>
          <p:cNvSpPr txBox="1"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  <a:defRPr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dt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ft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blipFill rotWithShape="1">
          <a:blip r:embed="rId2">
            <a:alphaModFix/>
          </a:blip>
          <a:tile tx="0" ty="0" sx="100000" sy="100000" flip="none" algn="tl"/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 sz="44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sldNum" idx="12"/>
          </p:nvPr>
        </p:nvSpPr>
        <p:spPr>
          <a:xfrm>
            <a:off x="0" y="1752600"/>
            <a:ext cx="1295400" cy="701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body" idx="2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body" idx="2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body" idx="3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body" idx="4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w="50800" cap="sq" cmpd="dbl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2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blipFill rotWithShape="1">
          <a:blip r:embed="rId2">
            <a:alphaModFix/>
          </a:blip>
          <a:tile tx="0" ty="0" sx="100000" sy="100000" flip="none" algn="tl"/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body" idx="1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/>
          <p:nvPr/>
        </p:nvSpPr>
        <p:spPr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sz="28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/>
          <p:nvPr/>
        </p:nvSpPr>
        <p:spPr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1" name="Google Shape;101;p12"/>
          <p:cNvSpPr txBox="1">
            <a:spLocks noGrp="1"/>
          </p:cNvSpPr>
          <p:nvPr>
            <p:ph type="dt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0" y="4667249"/>
            <a:ext cx="1447800" cy="66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ftr" idx="11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>
            <a:spLocks noGrp="1"/>
          </p:cNvSpPr>
          <p:nvPr>
            <p:ph type="pic" idx="2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DCE5EE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body" idx="1"/>
          </p:nvPr>
        </p:nvSpPr>
        <p:spPr>
          <a:xfrm rot="5400000">
            <a:off x="2426208" y="-213360"/>
            <a:ext cx="4526280" cy="8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>
            <a:spLocks noGrp="1"/>
          </p:cNvSpPr>
          <p:nvPr>
            <p:ph type="title"/>
          </p:nvPr>
        </p:nvSpPr>
        <p:spPr>
          <a:xfrm rot="5400000">
            <a:off x="4823619" y="2339182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body" idx="1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dt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ft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9" name="Google Shape;119;p14"/>
          <p:cNvSpPr txBox="1">
            <a:spLocks noGrp="1"/>
          </p:cNvSpPr>
          <p:nvPr>
            <p:ph type="sldNum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70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81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1" descr="C:\Users\vipin.tyagi\Desktop\footer-im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228600"/>
            <a:ext cx="743185" cy="88526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70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81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ft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1" u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3" descr="C:\Users\vipin.tyagi\Desktop\footer-img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29600" y="228600"/>
            <a:ext cx="743185" cy="88526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qlalchemy.org/" TargetMode="External"/><Relationship Id="rId7" Type="http://schemas.openxmlformats.org/officeDocument/2006/relationships/hyperlink" Target="https://www.nseindia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anaroussi/yfinance" TargetMode="External"/><Relationship Id="rId5" Type="http://schemas.openxmlformats.org/officeDocument/2006/relationships/hyperlink" Target="https://parquet.apache.org/" TargetMode="External"/><Relationship Id="rId4" Type="http://schemas.openxmlformats.org/officeDocument/2006/relationships/hyperlink" Target="https://alembic.sqlalchemy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ctrTitle"/>
          </p:nvPr>
        </p:nvSpPr>
        <p:spPr>
          <a:xfrm>
            <a:off x="0" y="787276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MACHINE LEARNING-POWERED PORTFOLIO ALLOCATION SYSTEM</a:t>
            </a:r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000">
                <a:solidFill>
                  <a:schemeClr val="dk1"/>
                </a:solidFill>
              </a:rPr>
              <a:t>Jaypee University of Engineering &amp; Technology, Guna 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943100" y="1829553"/>
            <a:ext cx="5257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by: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Aryan Parmar (241B048)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Shivam Saxena (241B334)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Arnav Purohit (241B043)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2340429" y="3306881"/>
            <a:ext cx="4572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Under the supervision of: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Dr. Amit Kumar Rathi</a:t>
            </a:r>
            <a:endParaRPr/>
          </a:p>
        </p:txBody>
      </p:sp>
      <p:pic>
        <p:nvPicPr>
          <p:cNvPr id="128" name="Google Shape;128;p15" descr="C:\Users\vipin.tyagi\Desktop\footer-im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0" y="4343400"/>
            <a:ext cx="1041400" cy="1240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500"/>
              <a:buFont typeface="Twentieth Century"/>
              <a:buNone/>
            </a:pPr>
            <a:r>
              <a:rPr lang="en-US" sz="2300" b="1"/>
              <a:t>Portfolio Allocation Platform — Project Overview</a:t>
            </a:r>
            <a:endParaRPr sz="2300" b="1"/>
          </a:p>
        </p:txBody>
      </p:sp>
      <p:sp>
        <p:nvSpPr>
          <p:cNvPr id="134" name="Google Shape;134;p16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52400" y="4352825"/>
            <a:ext cx="8839200" cy="22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Core Objective &amp; Engineering Principles</a:t>
            </a:r>
            <a:endParaRPr sz="180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Core Objective: </a:t>
            </a:r>
            <a:r>
              <a:rPr lang="en-US" sz="18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Build a modular, institutional-style research environment supporting the complete quantitative research.</a:t>
            </a:r>
            <a:endParaRPr sz="18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Infrastructure as Foundation: </a:t>
            </a:r>
            <a:r>
              <a:rPr lang="en-US" sz="18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Prioritize enterprise data infrastructure before predictive modeling to ensure all downstream research is mathematically valid.</a:t>
            </a:r>
            <a:endParaRPr sz="18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Institutional Quality Standards: </a:t>
            </a:r>
            <a:r>
              <a:rPr lang="en-US" sz="18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Multi-tier Parquet lake for high-speed time-series analytics paired with PostgreSQL 15 and Alembic for relational schema versioning.</a:t>
            </a:r>
            <a:endParaRPr sz="1800"/>
          </a:p>
        </p:txBody>
      </p:sp>
      <p:sp>
        <p:nvSpPr>
          <p:cNvPr id="138" name="Google Shape;138;p16"/>
          <p:cNvSpPr txBox="1"/>
          <p:nvPr/>
        </p:nvSpPr>
        <p:spPr>
          <a:xfrm>
            <a:off x="152400" y="1752089"/>
            <a:ext cx="9144000" cy="22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C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Platform Overview</a:t>
            </a:r>
            <a:endParaRPr sz="16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Production-Grade Research Platform: </a:t>
            </a:r>
            <a:r>
              <a:rPr lang="en-US" sz="18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Engineered specifically for Indian equity markets (NSE), replicating institutional quant research infrastructure.</a:t>
            </a:r>
            <a:endParaRPr sz="1600"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Full Lifecycle Coverage: </a:t>
            </a:r>
            <a:r>
              <a:rPr lang="en-US" sz="18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Covers data ingestion, strict validation, cleaning, feature engineering, and multilevel ML modelling, signal generation, </a:t>
            </a:r>
            <a:r>
              <a:rPr lang="en-US" sz="1800" b="0" dirty="0" err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backtesting</a:t>
            </a:r>
            <a:r>
              <a:rPr lang="en-US" sz="18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and portfolio analytics.</a:t>
            </a:r>
            <a:endParaRPr sz="16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Hedge Fund Architectural Discipline: </a:t>
            </a:r>
            <a:r>
              <a:rPr lang="en-US" sz="18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Replaces brittle ad-hoc scripts with transactional </a:t>
            </a:r>
            <a:r>
              <a:rPr lang="en-US" sz="1800" b="0" dirty="0" err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db</a:t>
            </a:r>
            <a:r>
              <a:rPr lang="en-US" sz="18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layers, partitioned data lakes, and automated verification.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300"/>
              <a:buFont typeface="Twentieth Century"/>
              <a:buNone/>
            </a:pPr>
            <a:r>
              <a:rPr lang="en-US" sz="23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Problem Statement — The Financial ML Reliability Gap</a:t>
            </a:r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283050" y="1737350"/>
            <a:ext cx="4182000" cy="47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Prevalent Pitfall in Financial ML</a:t>
            </a:r>
            <a:endParaRPr sz="17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Rush to Predict: </a:t>
            </a:r>
            <a:r>
              <a:rPr lang="en-US" sz="19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Most student and retail projects jump directly to training models (e.g. LSTM/Random Forest) on raw CSV downloads without data engineering.</a:t>
            </a:r>
            <a:endParaRPr sz="17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Zero Schema Discipline: </a:t>
            </a:r>
            <a:r>
              <a:rPr lang="en-US" sz="19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Absence of formal relational databases, schema constraints, or type validation allows corrupted and shifted records to enter training sets.</a:t>
            </a:r>
            <a:endParaRPr sz="17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Leakage &amp; Snooping: </a:t>
            </a:r>
            <a:r>
              <a:rPr lang="en-US" sz="19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Uncontrolled feature preprocessing introduces lookahead bias and survivorship bias, making models appear profitable in theory only.</a:t>
            </a:r>
            <a:endParaRPr sz="1700"/>
          </a:p>
        </p:txBody>
      </p:sp>
      <p:sp>
        <p:nvSpPr>
          <p:cNvPr id="148" name="Google Shape;148;p17"/>
          <p:cNvSpPr txBox="1"/>
          <p:nvPr/>
        </p:nvSpPr>
        <p:spPr>
          <a:xfrm>
            <a:off x="4809751" y="1737350"/>
            <a:ext cx="4182000" cy="4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Why it Matters: Profitable Quant</a:t>
            </a:r>
            <a:endParaRPr sz="19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Garbage In, Garbage Out: </a:t>
            </a:r>
            <a:r>
              <a:rPr lang="en-US" sz="19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Any predictive model built on unvalidated, inconsistent data is worthless regardless of </a:t>
            </a:r>
            <a:r>
              <a:rPr lang="en-US" sz="190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algo-</a:t>
            </a:r>
            <a:r>
              <a:rPr lang="en-US" sz="19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complexity.</a:t>
            </a:r>
            <a:endParaRPr sz="19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False Alpha &amp; Illusory PnL: </a:t>
            </a:r>
            <a:r>
              <a:rPr lang="en-US" sz="19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errors distort backtests into reporting unrealistic returns that collapse under real execution costs and clean data feeds.</a:t>
            </a:r>
            <a:endParaRPr sz="19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Heavy Institutional Investment: </a:t>
            </a:r>
            <a:r>
              <a:rPr lang="en-US" sz="19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 </a:t>
            </a:r>
            <a:r>
              <a:rPr lang="en-US" sz="190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quant firms </a:t>
            </a:r>
            <a:r>
              <a:rPr lang="en-US" sz="19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allocate &gt;70% of engineering bandwidth to data ingestion</a:t>
            </a:r>
            <a:r>
              <a:rPr lang="en-US" sz="190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&amp; </a:t>
            </a:r>
            <a:r>
              <a:rPr lang="en-US" sz="19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cleaning.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500"/>
              <a:buFont typeface="Twentieth Century"/>
              <a:buNone/>
            </a:pPr>
            <a:r>
              <a:rPr lang="en-US" sz="2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Literature Review &amp; Technical Gap Analysis</a:t>
            </a:r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259075" y="1691650"/>
            <a:ext cx="86823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1. Existing Retail Platforms &amp; Open-Source Limitations</a:t>
            </a:r>
            <a:endParaRPr sz="18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Architectural Deficits: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Tools like basic backtesting.py scripts and Kaggle notebooks lack persistent relational databases, schema constraints, and transaction safety.</a:t>
            </a:r>
            <a:endParaRPr sz="18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Missing Pipeline Segregation: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Typically bundle ingestion, cleaning, and model evaluation into single scripts without decoupled data lake tiers (raw vs. processed vs. features).</a:t>
            </a:r>
            <a:endParaRPr sz="1800"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230850" y="3336602"/>
            <a:ext cx="86823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2. Institutional Quant Research Infrastructure Practices</a:t>
            </a:r>
            <a:endParaRPr sz="18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Decoupled Stage Discipline: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Industry platforms universally separate data ingestion, point-in-time validation, cleaning, and feature engineering into independently testable modules.</a:t>
            </a:r>
            <a:endParaRPr sz="18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Dual Analytical/Transactional Tiers: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Pair columnar time-series storage (Apache Parquet) for multi-gigabyte </a:t>
            </a:r>
            <a:r>
              <a:rPr lang="en-US" sz="1600" b="0" dirty="0" err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backtests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with relational ORMs (PostgreSQL) for transactional state and metadata.</a:t>
            </a:r>
            <a:endParaRPr sz="1800"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259075" y="5071868"/>
            <a:ext cx="86823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3. Explicit Technical Gaps Addressed by This Platform</a:t>
            </a:r>
            <a:endParaRPr sz="18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Alembic Versioning &amp; Idempotent </a:t>
            </a:r>
            <a:r>
              <a:rPr lang="en-US" sz="1600" b="1" dirty="0" err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Upserts</a:t>
            </a: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Enforces schema version migrations via Alembic and PostgreSQL ON CONFLICT DO UPDATE </a:t>
            </a:r>
            <a:r>
              <a:rPr lang="en-US" sz="1600" b="0" dirty="0" err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upserts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to prevent data duplication.</a:t>
            </a:r>
            <a:endParaRPr sz="18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Transaction-Isolated Verification: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Implements automated repository test suites operating inside isolated database transactions with zero persistent test pollution.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500"/>
              <a:buFont typeface="Twentieth Century"/>
              <a:buNone/>
            </a:pPr>
            <a:r>
              <a:rPr lang="en-US" sz="2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Work Plan — 13-Week Roadmap</a:t>
            </a:r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167" name="Google Shape;167;p19"/>
          <p:cNvGraphicFramePr/>
          <p:nvPr/>
        </p:nvGraphicFramePr>
        <p:xfrm>
          <a:off x="152400" y="1684524"/>
          <a:ext cx="8839200" cy="4944950"/>
        </p:xfrm>
        <a:graphic>
          <a:graphicData uri="http://schemas.openxmlformats.org/drawingml/2006/table">
            <a:tbl>
              <a:tblPr firstRow="1" bandRow="1">
                <a:noFill/>
                <a:tableStyleId>{01E28BC1-5443-4B43-9B87-032C70B4474B}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Week &amp; Work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Status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b="1" u="none" strike="noStrike" cap="none"/>
                        <a:t>Week 1 — Database Design &amp; Schema Setup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urier New"/>
                        <a:buNone/>
                      </a:pPr>
                      <a:r>
                        <a:rPr lang="en-US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b="1" u="none" strike="noStrike" cap="none"/>
                        <a:t>Week 2 — NSE Data Collection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b="1" u="none" strike="noStrike" cap="none"/>
                        <a:t>Week 3 — Data Validation &amp; Cleaning Pipeline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b="1" u="none" strike="noStrike" cap="none"/>
                        <a:t>Week 4 — Data Storage &amp; Processing Layer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b="1" u="none" strike="noStrike" cap="none"/>
                        <a:t>Week 5 — Feature Engineering Pipeline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b="1" u="none" strike="noStrike" cap="none"/>
                        <a:t>Week 6 — Database Repository Layer &amp; Testing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u="none" strike="noStrike" cap="none"/>
                        <a:t>Week 7 — ML Dataset Construction &amp; Model Training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 PROGRESS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3F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u="none" strike="noStrike" cap="none"/>
                        <a:t>Week 8 — Model Evaluation &amp; Prediction Pipeline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PENDING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6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u="none" strike="noStrike" cap="none"/>
                        <a:t>Week 9 — Signal Generation System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PENDING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6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u="none" strike="noStrike" cap="none"/>
                        <a:t>Week 10 — Backtesting Engine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PENDING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6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u="none" strike="noStrike" cap="none"/>
                        <a:t>Week 11 — Portfolio Construction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PENDING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6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u="none" strike="noStrike" cap="none"/>
                        <a:t>Week 12 — Performance Analytics &amp; Dashboard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PENDING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6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-US" sz="1400" u="none" strike="noStrike" cap="none"/>
                        <a:t>Week 13 — Automation &amp; Production Readiness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PENDING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6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500"/>
              <a:buFont typeface="Twentieth Century"/>
              <a:buNone/>
            </a:pPr>
            <a:r>
              <a:rPr lang="en-US" sz="2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Individual Contribution &amp; Responsibilities</a:t>
            </a:r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152400" y="1828800"/>
          <a:ext cx="8839200" cy="4800600"/>
        </p:xfrm>
        <a:graphic>
          <a:graphicData uri="http://schemas.openxmlformats.org/drawingml/2006/table">
            <a:tbl>
              <a:tblPr firstRow="1" bandRow="1">
                <a:noFill/>
                <a:tableStyleId>{01E28BC1-5443-4B43-9B87-032C70B4474B}</a:tableStyleId>
              </a:tblPr>
              <a:tblGrid>
                <a:gridCol w="224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Member Name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Enrollment No.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Contribution</a:t>
                      </a:r>
                      <a:endParaRPr/>
                    </a:p>
                  </a:txBody>
                  <a:tcPr marL="73150" marR="73150" marT="36575" marB="36575" anchor="ctr">
                    <a:solidFill>
                      <a:srgbClr val="94B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cap="none">
                          <a:solidFill>
                            <a:srgbClr val="0070C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Shivam Saxena</a:t>
                      </a:r>
                      <a:endParaRPr sz="2600" u="none" strike="noStrike" cap="none">
                        <a:solidFill>
                          <a:srgbClr val="0070C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L="73150" marR="73150" marT="36575" marB="36575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strike="noStrike" cap="none">
                          <a:solidFill>
                            <a:srgbClr val="0070C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241B334</a:t>
                      </a:r>
                      <a:endParaRPr sz="2700" u="none" strike="noStrike" cap="none">
                        <a:solidFill>
                          <a:srgbClr val="0070C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L="73150" marR="73150" marT="36575" marB="36575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523"/>
                        </a:buClr>
                        <a:buSzPts val="1600"/>
                        <a:buFont typeface="Twentieth Century"/>
                        <a:buNone/>
                      </a:pPr>
                      <a:r>
                        <a:rPr lang="en-US" sz="1500"/>
                        <a:t>Built NSE data ingestion (yfinance connector with retry logic) and data validation/cleaning enforcing quality gates.</a:t>
                      </a:r>
                      <a:endParaRPr sz="1300"/>
                    </a:p>
                  </a:txBody>
                  <a:tcPr marL="73150" marR="73150" marT="36575" marB="36575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cap="none">
                          <a:solidFill>
                            <a:srgbClr val="0070C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Aryan Parmar</a:t>
                      </a:r>
                      <a:endParaRPr sz="2600" u="none" strike="noStrike" cap="none">
                        <a:solidFill>
                          <a:srgbClr val="0070C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strike="noStrike" cap="none">
                          <a:solidFill>
                            <a:srgbClr val="0070C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241B04</a:t>
                      </a:r>
                      <a:r>
                        <a:rPr lang="en-US" sz="2700">
                          <a:solidFill>
                            <a:srgbClr val="0070C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8</a:t>
                      </a:r>
                      <a:endParaRPr sz="2700" u="none" strike="noStrike" cap="none">
                        <a:solidFill>
                          <a:srgbClr val="0070C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Built the feature engineering pipeline that defines the exact inputs and prediction targets for machine learning models.</a:t>
                      </a:r>
                      <a:endParaRPr sz="1300"/>
                    </a:p>
                  </a:txBody>
                  <a:tcPr marL="73150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none" strike="noStrike" cap="none">
                          <a:solidFill>
                            <a:srgbClr val="0070C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Arnav Purohit</a:t>
                      </a:r>
                      <a:endParaRPr sz="2600" u="none" strike="noStrike" cap="none">
                        <a:solidFill>
                          <a:srgbClr val="0070C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L="73150" marR="73150" marT="36575" marB="36575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strike="noStrike" cap="none">
                          <a:solidFill>
                            <a:srgbClr val="0070C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241B04</a:t>
                      </a:r>
                      <a:r>
                        <a:rPr lang="en-US" sz="2700">
                          <a:solidFill>
                            <a:srgbClr val="0070C0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3</a:t>
                      </a:r>
                      <a:endParaRPr sz="2700" u="none" strike="noStrike" cap="none">
                        <a:solidFill>
                          <a:srgbClr val="0070C0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L="73150" marR="73150" marT="36575" marB="36575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Designed the PostgreSQL schema and built the </a:t>
                      </a:r>
                      <a:r>
                        <a:rPr lang="en-US" sz="1500"/>
                        <a:t>parquet-based data lake storage layer.</a:t>
                      </a:r>
                      <a:endParaRPr sz="1600" u="none" strike="noStrike" cap="none"/>
                    </a:p>
                  </a:txBody>
                  <a:tcPr marL="73150" marR="73150" marT="36575" marB="36575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500"/>
              <a:buFont typeface="Twentieth Century"/>
              <a:buNone/>
            </a:pPr>
            <a:r>
              <a:rPr lang="en-US" sz="2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Work Done So Far — System Architecture</a:t>
            </a:r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4700" y="6372075"/>
            <a:ext cx="2310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End-to-End Pipeline</a:t>
            </a:r>
            <a:endParaRPr sz="2100"/>
          </a:p>
        </p:txBody>
      </p:sp>
      <p:sp>
        <p:nvSpPr>
          <p:cNvPr id="182" name="Google Shape;182;p21"/>
          <p:cNvSpPr/>
          <p:nvPr/>
        </p:nvSpPr>
        <p:spPr>
          <a:xfrm>
            <a:off x="64700" y="1607225"/>
            <a:ext cx="1534518" cy="504306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wentieth Century"/>
                <a:ea typeface="Twentieth Century"/>
                <a:cs typeface="Twentieth Century"/>
                <a:sym typeface="Twentieth Century"/>
              </a:rPr>
              <a:t>Start</a:t>
            </a:r>
            <a:endParaRPr sz="19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1693175" y="2111488"/>
            <a:ext cx="2199300" cy="3486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Twentieth Century"/>
                <a:ea typeface="Twentieth Century"/>
                <a:cs typeface="Twentieth Century"/>
                <a:sym typeface="Twentieth Century"/>
              </a:rPr>
              <a:t>Ingest NSE data via yfinance</a:t>
            </a:r>
            <a:endParaRPr sz="13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1913825" y="2671738"/>
            <a:ext cx="1758000" cy="3486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Raw Parquet storage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85" name="Google Shape;185;p21"/>
          <p:cNvCxnSpPr>
            <a:stCxn id="183" idx="2"/>
            <a:endCxn id="184" idx="0"/>
          </p:cNvCxnSpPr>
          <p:nvPr/>
        </p:nvCxnSpPr>
        <p:spPr>
          <a:xfrm>
            <a:off x="2792825" y="2460088"/>
            <a:ext cx="0" cy="21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" name="Google Shape;186;p21"/>
          <p:cNvSpPr/>
          <p:nvPr/>
        </p:nvSpPr>
        <p:spPr>
          <a:xfrm>
            <a:off x="1856975" y="3227650"/>
            <a:ext cx="1871700" cy="3486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Validation &amp; Cleaning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1856975" y="3783588"/>
            <a:ext cx="1871700" cy="5613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Processes storage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(returns computed)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167725" y="4552225"/>
            <a:ext cx="3250200" cy="7026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Feature Engineering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(trend, momentum, volatility, mean-reversion, volume &amp; targets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167725" y="5462150"/>
            <a:ext cx="3250200" cy="7026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PostgreSQL Metadata &amp; Repository Layer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(assets, prices, features, signals, trades, portfolio_metrics) 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703000" y="1720125"/>
            <a:ext cx="3250200" cy="561300"/>
          </a:xfrm>
          <a:prstGeom prst="roundRect">
            <a:avLst>
              <a:gd name="adj" fmla="val 16667"/>
            </a:avLst>
          </a:prstGeom>
          <a:solidFill>
            <a:srgbClr val="F3F39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ML Model Training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(Ridge, XGBoost, LightGBM + MLflow) 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392250" y="2497875"/>
            <a:ext cx="1871700" cy="348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Prediction Pipeline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099300" y="3062925"/>
            <a:ext cx="2457600" cy="5043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Signal Generation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(threshold-based, rank-based) 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93" name="Google Shape;193;p21"/>
          <p:cNvCxnSpPr>
            <a:stCxn id="184" idx="2"/>
            <a:endCxn id="186" idx="0"/>
          </p:cNvCxnSpPr>
          <p:nvPr/>
        </p:nvCxnSpPr>
        <p:spPr>
          <a:xfrm>
            <a:off x="2792825" y="3020338"/>
            <a:ext cx="0" cy="20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1"/>
          <p:cNvCxnSpPr>
            <a:stCxn id="186" idx="2"/>
            <a:endCxn id="187" idx="0"/>
          </p:cNvCxnSpPr>
          <p:nvPr/>
        </p:nvCxnSpPr>
        <p:spPr>
          <a:xfrm>
            <a:off x="2792825" y="3576250"/>
            <a:ext cx="0" cy="20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21"/>
          <p:cNvCxnSpPr>
            <a:stCxn id="187" idx="2"/>
            <a:endCxn id="188" idx="0"/>
          </p:cNvCxnSpPr>
          <p:nvPr/>
        </p:nvCxnSpPr>
        <p:spPr>
          <a:xfrm>
            <a:off x="2792825" y="4344888"/>
            <a:ext cx="0" cy="20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21"/>
          <p:cNvCxnSpPr>
            <a:stCxn id="188" idx="2"/>
            <a:endCxn id="189" idx="0"/>
          </p:cNvCxnSpPr>
          <p:nvPr/>
        </p:nvCxnSpPr>
        <p:spPr>
          <a:xfrm>
            <a:off x="2792825" y="5254825"/>
            <a:ext cx="0" cy="20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21"/>
          <p:cNvCxnSpPr>
            <a:stCxn id="190" idx="2"/>
            <a:endCxn id="191" idx="0"/>
          </p:cNvCxnSpPr>
          <p:nvPr/>
        </p:nvCxnSpPr>
        <p:spPr>
          <a:xfrm>
            <a:off x="6328100" y="2281425"/>
            <a:ext cx="0" cy="21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p21"/>
          <p:cNvSpPr/>
          <p:nvPr/>
        </p:nvSpPr>
        <p:spPr>
          <a:xfrm>
            <a:off x="5392250" y="3731775"/>
            <a:ext cx="1871700" cy="2925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Backtesting Engine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909400" y="4251825"/>
            <a:ext cx="2837400" cy="702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Portfolio Construction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(equal-weight, vol-weighted, mean-variance optimization) 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00" name="Google Shape;200;p21"/>
          <p:cNvCxnSpPr>
            <a:stCxn id="191" idx="2"/>
            <a:endCxn id="192" idx="0"/>
          </p:cNvCxnSpPr>
          <p:nvPr/>
        </p:nvCxnSpPr>
        <p:spPr>
          <a:xfrm>
            <a:off x="6328100" y="2846475"/>
            <a:ext cx="0" cy="21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21"/>
          <p:cNvCxnSpPr>
            <a:stCxn id="192" idx="2"/>
            <a:endCxn id="198" idx="0"/>
          </p:cNvCxnSpPr>
          <p:nvPr/>
        </p:nvCxnSpPr>
        <p:spPr>
          <a:xfrm>
            <a:off x="6328100" y="3567225"/>
            <a:ext cx="0" cy="16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21"/>
          <p:cNvCxnSpPr>
            <a:stCxn id="198" idx="2"/>
            <a:endCxn id="199" idx="0"/>
          </p:cNvCxnSpPr>
          <p:nvPr/>
        </p:nvCxnSpPr>
        <p:spPr>
          <a:xfrm>
            <a:off x="6328100" y="4024275"/>
            <a:ext cx="0" cy="22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3" name="Google Shape;203;p21"/>
          <p:cNvSpPr/>
          <p:nvPr/>
        </p:nvSpPr>
        <p:spPr>
          <a:xfrm>
            <a:off x="4833200" y="5141475"/>
            <a:ext cx="2989800" cy="702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Performance Analytics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(Sharpe, Sortino, drawdown, benchmark comparison)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04" name="Google Shape;204;p21"/>
          <p:cNvCxnSpPr>
            <a:stCxn id="199" idx="2"/>
            <a:endCxn id="203" idx="0"/>
          </p:cNvCxnSpPr>
          <p:nvPr/>
        </p:nvCxnSpPr>
        <p:spPr>
          <a:xfrm>
            <a:off x="6328100" y="4954425"/>
            <a:ext cx="0" cy="18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5" name="Google Shape;205;p21"/>
          <p:cNvSpPr/>
          <p:nvPr/>
        </p:nvSpPr>
        <p:spPr>
          <a:xfrm>
            <a:off x="5213013" y="6031125"/>
            <a:ext cx="2230200" cy="3486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Dashboard &amp; Visualization 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06" name="Google Shape;206;p21"/>
          <p:cNvCxnSpPr>
            <a:stCxn id="203" idx="2"/>
            <a:endCxn id="205" idx="0"/>
          </p:cNvCxnSpPr>
          <p:nvPr/>
        </p:nvCxnSpPr>
        <p:spPr>
          <a:xfrm>
            <a:off x="6328100" y="5844075"/>
            <a:ext cx="0" cy="18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21"/>
          <p:cNvCxnSpPr>
            <a:stCxn id="189" idx="3"/>
            <a:endCxn id="190" idx="1"/>
          </p:cNvCxnSpPr>
          <p:nvPr/>
        </p:nvCxnSpPr>
        <p:spPr>
          <a:xfrm rot="10800000" flipH="1">
            <a:off x="4417925" y="2000750"/>
            <a:ext cx="285000" cy="3812700"/>
          </a:xfrm>
          <a:prstGeom prst="bentConnector3">
            <a:avLst>
              <a:gd name="adj1" fmla="val 5001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" name="Google Shape;208;p21"/>
          <p:cNvSpPr/>
          <p:nvPr/>
        </p:nvSpPr>
        <p:spPr>
          <a:xfrm>
            <a:off x="7568450" y="6255500"/>
            <a:ext cx="1534518" cy="504306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wentieth Century"/>
                <a:ea typeface="Twentieth Century"/>
                <a:cs typeface="Twentieth Century"/>
                <a:sym typeface="Twentieth Century"/>
              </a:rPr>
              <a:t>End</a:t>
            </a:r>
            <a:endParaRPr sz="19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09" name="Google Shape;209;p21"/>
          <p:cNvCxnSpPr>
            <a:stCxn id="182" idx="2"/>
            <a:endCxn id="183" idx="0"/>
          </p:cNvCxnSpPr>
          <p:nvPr/>
        </p:nvCxnSpPr>
        <p:spPr>
          <a:xfrm rot="-5400000" flipH="1">
            <a:off x="1812059" y="1131431"/>
            <a:ext cx="600" cy="1960800"/>
          </a:xfrm>
          <a:prstGeom prst="curvedConnector5">
            <a:avLst>
              <a:gd name="adj1" fmla="val 39687500"/>
              <a:gd name="adj2" fmla="val 41526"/>
              <a:gd name="adj3" fmla="val -3969475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1"/>
          <p:cNvCxnSpPr>
            <a:stCxn id="205" idx="2"/>
            <a:endCxn id="208" idx="0"/>
          </p:cNvCxnSpPr>
          <p:nvPr/>
        </p:nvCxnSpPr>
        <p:spPr>
          <a:xfrm rot="-5400000">
            <a:off x="7269813" y="5313825"/>
            <a:ext cx="124200" cy="2007600"/>
          </a:xfrm>
          <a:prstGeom prst="curvedConnector5">
            <a:avLst>
              <a:gd name="adj1" fmla="val -191727"/>
              <a:gd name="adj2" fmla="val 58709"/>
              <a:gd name="adj3" fmla="val 2917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400"/>
              <a:buFont typeface="Twentieth Century"/>
              <a:buNone/>
            </a:pPr>
            <a:r>
              <a:rPr lang="en-US" sz="24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Work Done So Far — Dataset Details &amp; Storage</a:t>
            </a:r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331500" y="1753675"/>
            <a:ext cx="4121700" cy="2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Source &amp; Ingestion Connector</a:t>
            </a:r>
            <a:endParaRPr sz="17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Market Source: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National Stock Exchange of India (NSE) equities and benchmark indices.</a:t>
            </a:r>
            <a:endParaRPr sz="17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Connector Interface: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yfinance API wrapper enhanced with automated retry logic and rate-limiting.</a:t>
            </a:r>
            <a:endParaRPr sz="17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Ingestion Resilience: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Exponential backoff handling network throttling and non-trading holidays.</a:t>
            </a:r>
            <a:endParaRPr sz="1700"/>
          </a:p>
        </p:txBody>
      </p:sp>
      <p:sp>
        <p:nvSpPr>
          <p:cNvPr id="220" name="Google Shape;220;p22"/>
          <p:cNvSpPr txBox="1"/>
          <p:nvPr/>
        </p:nvSpPr>
        <p:spPr>
          <a:xfrm>
            <a:off x="4905825" y="1753675"/>
            <a:ext cx="4121700" cy="18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Type &amp; Schema Specification</a:t>
            </a:r>
            <a:endParaRPr sz="15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Series Type: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Daily OHLCV (Open, High, Low, Close, Adjusted Close, Volume) time-series.</a:t>
            </a:r>
            <a:endParaRPr sz="15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Numeric Precision: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64-bit floating point for price fields; 64-bit integer for trading volumes.</a:t>
            </a:r>
            <a:endParaRPr sz="15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Temporal Integrity: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Timezone-aware normalized timestamps with strict market open/close alignment.</a:t>
            </a:r>
            <a:endParaRPr sz="1500"/>
          </a:p>
        </p:txBody>
      </p:sp>
      <p:sp>
        <p:nvSpPr>
          <p:cNvPr id="222" name="Google Shape;222;p22"/>
          <p:cNvSpPr txBox="1"/>
          <p:nvPr/>
        </p:nvSpPr>
        <p:spPr>
          <a:xfrm>
            <a:off x="331350" y="4432325"/>
            <a:ext cx="4121700" cy="211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Universe Scope &amp; Historical Depth</a:t>
            </a:r>
            <a:endParaRPr sz="15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Equity Universe: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NIFTY 500 equity universe (fully configurable YAML/JSON definitions).</a:t>
            </a:r>
            <a:endParaRPr sz="15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Benchmark Indices: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Key indices integrated: NIFTY 50</a:t>
            </a:r>
            <a:r>
              <a:rPr lang="en-US" sz="150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&amp;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NIFTY BANK</a:t>
            </a:r>
            <a:endParaRPr lang="en-US" sz="1500" dirty="0">
              <a:solidFill>
                <a:srgbClr val="2B252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Historical Range: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Multi-year historical daily bars enabling robust cross-sectional and temporal modeling.</a:t>
            </a:r>
            <a:endParaRPr sz="1500" dirty="0"/>
          </a:p>
        </p:txBody>
      </p:sp>
      <p:sp>
        <p:nvSpPr>
          <p:cNvPr id="224" name="Google Shape;224;p22"/>
          <p:cNvSpPr txBox="1"/>
          <p:nvPr/>
        </p:nvSpPr>
        <p:spPr>
          <a:xfrm>
            <a:off x="4905825" y="4340100"/>
            <a:ext cx="4121700" cy="234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Dual Analytical &amp; Transactional Storage</a:t>
            </a:r>
            <a:endParaRPr sz="15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Parquet Data Lake: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Snappy-compressed partitioned storage across raw, processed, and feature tiers.</a:t>
            </a:r>
            <a:endParaRPr sz="15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PostgreSQL Relational DB: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ACID-compliant storage for asset metadata, price audit logs, and signal tables.</a:t>
            </a:r>
            <a:endParaRPr sz="15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Migration Control: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Alembic-managed </a:t>
            </a:r>
            <a:r>
              <a:rPr lang="en-US" sz="1500" b="0" dirty="0" err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db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migrations guaranteeing 100% env parity.</a:t>
            </a:r>
            <a:endParaRPr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500"/>
              <a:buFont typeface="Twentieth Century"/>
              <a:buNone/>
            </a:pPr>
            <a:r>
              <a:rPr lang="en-US" sz="2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Work Done So Far — Pipeline Methodology</a:t>
            </a:r>
            <a:endParaRPr/>
          </a:p>
        </p:txBody>
      </p:sp>
      <p:sp>
        <p:nvSpPr>
          <p:cNvPr id="230" name="Google Shape;230;p23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285873" y="2083245"/>
            <a:ext cx="4153500" cy="40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025" tIns="51000" rIns="102025" bIns="51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1" b="1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Validation, Cleaning &amp; Return Metrics</a:t>
            </a:r>
            <a:endParaRPr sz="1786"/>
          </a:p>
          <a:p>
            <a:pPr marL="0" marR="0" lvl="0" indent="0" algn="l" rtl="0">
              <a:spcBef>
                <a:spcPts val="446"/>
              </a:spcBef>
              <a:spcAft>
                <a:spcPts val="0"/>
              </a:spcAft>
              <a:buNone/>
            </a:pPr>
            <a:r>
              <a:rPr lang="en-US" sz="173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Strict Validation Rules: </a:t>
            </a:r>
            <a:endParaRPr sz="1730" b="1">
              <a:solidFill>
                <a:srgbClr val="2B252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446"/>
              </a:spcBef>
              <a:spcAft>
                <a:spcPts val="0"/>
              </a:spcAft>
              <a:buNone/>
            </a:pPr>
            <a:r>
              <a:rPr lang="en-US" sz="173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Asserts High &gt;= Low, Low &lt;= Open/Close &lt;= High; rejects negative volumes, missing dates, and abnormal price spikes.</a:t>
            </a:r>
            <a:endParaRPr sz="2009"/>
          </a:p>
          <a:p>
            <a:pPr marL="0" marR="0" lvl="0" indent="0" algn="l" rtl="0">
              <a:spcBef>
                <a:spcPts val="558"/>
              </a:spcBef>
              <a:spcAft>
                <a:spcPts val="0"/>
              </a:spcAft>
              <a:buNone/>
            </a:pPr>
            <a:r>
              <a:rPr lang="en-US" sz="173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Cleaning &amp; Alignment: </a:t>
            </a:r>
            <a:endParaRPr sz="1730" b="1">
              <a:solidFill>
                <a:srgbClr val="2B252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558"/>
              </a:spcBef>
              <a:spcAft>
                <a:spcPts val="0"/>
              </a:spcAft>
              <a:buNone/>
            </a:pPr>
            <a:r>
              <a:rPr lang="en-US" sz="173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Deduplicates records on symbol + date; aligns trading calendars; flags historical trading gaps.</a:t>
            </a:r>
            <a:endParaRPr sz="1730" b="1">
              <a:solidFill>
                <a:srgbClr val="2B252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446"/>
              </a:spcBef>
              <a:spcAft>
                <a:spcPts val="0"/>
              </a:spcAft>
              <a:buNone/>
            </a:pPr>
            <a:r>
              <a:rPr lang="en-US" sz="1841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Idempotent Persistence: </a:t>
            </a:r>
            <a:endParaRPr sz="1841" b="1">
              <a:solidFill>
                <a:srgbClr val="2B252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446"/>
              </a:spcBef>
              <a:spcAft>
                <a:spcPts val="0"/>
              </a:spcAft>
              <a:buNone/>
            </a:pPr>
            <a:r>
              <a:rPr lang="en-US" sz="1841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Upserts clean metrics directly into PostgreSQL and appends to processed Parquet lake.</a:t>
            </a:r>
            <a:endParaRPr sz="2121"/>
          </a:p>
        </p:txBody>
      </p:sp>
      <p:sp>
        <p:nvSpPr>
          <p:cNvPr id="234" name="Google Shape;234;p23"/>
          <p:cNvSpPr txBox="1"/>
          <p:nvPr/>
        </p:nvSpPr>
        <p:spPr>
          <a:xfrm>
            <a:off x="4893394" y="2036399"/>
            <a:ext cx="4033800" cy="43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025" tIns="51000" rIns="102025" bIns="51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6" b="1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 Technical Feature Families Computed</a:t>
            </a:r>
            <a:endParaRPr sz="1786"/>
          </a:p>
          <a:p>
            <a:pPr marL="0" marR="0" lvl="0" indent="0" algn="l" rtl="0">
              <a:spcBef>
                <a:spcPts val="446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1. Trend Indicators: </a:t>
            </a:r>
            <a:r>
              <a:rPr lang="en-US" sz="1562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Simple Moving Averages (SMA 20/50/200), EMA (12/26), MACD line, signal line, and histogram.</a:t>
            </a:r>
            <a:endParaRPr sz="1897"/>
          </a:p>
          <a:p>
            <a:pPr marL="0" marR="0" lvl="0" indent="0" algn="l" rtl="0">
              <a:spcBef>
                <a:spcPts val="558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2. Momentum Indicators: </a:t>
            </a:r>
            <a:r>
              <a:rPr lang="en-US" sz="1562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Relative Strength Index (RSI 14), Rate of Change (ROC 10/20), Stochastic %K and %D oscillators.</a:t>
            </a:r>
            <a:endParaRPr sz="1897"/>
          </a:p>
          <a:p>
            <a:pPr marL="0" marR="0" lvl="0" indent="0" algn="l" rtl="0">
              <a:spcBef>
                <a:spcPts val="558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3. Volatility Indicators: </a:t>
            </a:r>
            <a:r>
              <a:rPr lang="en-US" sz="1562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Bollinger Bands (20-day, ±2σ), Average True Range (ATR 14), Rolling Return Volatility.</a:t>
            </a:r>
            <a:endParaRPr sz="1897"/>
          </a:p>
          <a:p>
            <a:pPr marL="0" marR="0" lvl="0" indent="0" algn="l" rtl="0">
              <a:spcBef>
                <a:spcPts val="558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4. Mean-Reversion Factors: </a:t>
            </a:r>
            <a:r>
              <a:rPr lang="en-US" sz="1562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Price Z-Scores relative to 20/50-day windows; normalized distance from major moving averages.</a:t>
            </a:r>
            <a:endParaRPr sz="1897"/>
          </a:p>
          <a:p>
            <a:pPr marL="0" marR="0" lvl="0" indent="0" algn="l" rtl="0">
              <a:spcBef>
                <a:spcPts val="558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5. Volume Dynamics: </a:t>
            </a:r>
            <a:r>
              <a:rPr lang="en-US" sz="1562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Volume Moving Average (VMA 20), On-Balance Volume (OBV), Volume Z-Score surge indicators.</a:t>
            </a:r>
            <a:endParaRPr sz="1897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500"/>
              <a:buFont typeface="Twentieth Century"/>
              <a:buNone/>
            </a:pPr>
            <a:r>
              <a:rPr lang="en-US" sz="2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Work Done So Far — Validation Results</a:t>
            </a:r>
            <a:endParaRPr/>
          </a:p>
        </p:txBody>
      </p:sp>
      <p:sp>
        <p:nvSpPr>
          <p:cNvPr id="240" name="Google Shape;240;p24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612648" y="1572768"/>
            <a:ext cx="2542032" cy="96012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9050" cap="flat" cmpd="sng">
            <a:solidFill>
              <a:srgbClr val="DD8047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685800" y="1627632"/>
            <a:ext cx="2395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194 / 194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TOTAL PLATFORM TESTS  |  </a:t>
            </a:r>
            <a:endParaRPr sz="1250" b="1">
              <a:solidFill>
                <a:srgbClr val="2B252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100% Automated Test Pass Rate</a:t>
            </a:r>
            <a:endParaRPr sz="1800"/>
          </a:p>
        </p:txBody>
      </p:sp>
      <p:sp>
        <p:nvSpPr>
          <p:cNvPr id="243" name="Google Shape;243;p24"/>
          <p:cNvSpPr/>
          <p:nvPr/>
        </p:nvSpPr>
        <p:spPr>
          <a:xfrm>
            <a:off x="3300984" y="1572768"/>
            <a:ext cx="2542032" cy="96012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9050" cap="flat" cmpd="sng">
            <a:solidFill>
              <a:srgbClr val="94B6D2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3374136" y="1627632"/>
            <a:ext cx="23958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91 / 91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REPOSITORY CRUD TESTS  |  Verified Against Live PostgreSQL</a:t>
            </a:r>
            <a:endParaRPr sz="1800"/>
          </a:p>
        </p:txBody>
      </p:sp>
      <p:sp>
        <p:nvSpPr>
          <p:cNvPr id="245" name="Google Shape;245;p24"/>
          <p:cNvSpPr/>
          <p:nvPr/>
        </p:nvSpPr>
        <p:spPr>
          <a:xfrm>
            <a:off x="5989320" y="1572768"/>
            <a:ext cx="2542032" cy="96012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9050" cap="flat" cmpd="sng">
            <a:solidFill>
              <a:srgbClr val="DD8047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509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6062472" y="1627632"/>
            <a:ext cx="2395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 / 5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LAKE TIERS  |  End-to-End Round-Trip Verified</a:t>
            </a:r>
            <a:endParaRPr sz="1900"/>
          </a:p>
        </p:txBody>
      </p:sp>
      <p:pic>
        <p:nvPicPr>
          <p:cNvPr id="247" name="Google Shape;247;p24"/>
          <p:cNvPicPr preferRelativeResize="0"/>
          <p:nvPr/>
        </p:nvPicPr>
        <p:blipFill rotWithShape="1">
          <a:blip r:embed="rId3">
            <a:alphaModFix/>
          </a:blip>
          <a:srcRect t="36948" r="10185"/>
          <a:stretch/>
        </p:blipFill>
        <p:spPr>
          <a:xfrm>
            <a:off x="533400" y="2886475"/>
            <a:ext cx="7997948" cy="364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300"/>
              <a:buFont typeface="Twentieth Century"/>
              <a:buNone/>
            </a:pPr>
            <a:r>
              <a:rPr lang="en-US" sz="23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Work to be Done — Predictive Engine (Weeks 7–13)</a:t>
            </a:r>
            <a:endParaRPr/>
          </a:p>
        </p:txBody>
      </p:sp>
      <p:sp>
        <p:nvSpPr>
          <p:cNvPr id="253" name="Google Shape;253;p25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72325" y="1706550"/>
            <a:ext cx="4360800" cy="23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1. Machine Learning &amp; Experiment Tracking</a:t>
            </a:r>
            <a:endParaRPr sz="17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Predictive Models: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Train Ridge/Lasso, XGBoost, and LightGBM models for forward return forecasting.</a:t>
            </a:r>
            <a:endParaRPr sz="18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Chronological Splitting: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Walk-forward train/test splits strictly preserving time-series causality (no lookahead bias).</a:t>
            </a:r>
            <a:endParaRPr sz="18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MLflow Integration: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Centralized tracking of model hyperparameters, feature importance, loss, and metrics.</a:t>
            </a:r>
            <a:endParaRPr sz="1800"/>
          </a:p>
        </p:txBody>
      </p:sp>
      <p:sp>
        <p:nvSpPr>
          <p:cNvPr id="257" name="Google Shape;257;p25"/>
          <p:cNvSpPr txBox="1"/>
          <p:nvPr/>
        </p:nvSpPr>
        <p:spPr>
          <a:xfrm>
            <a:off x="4770825" y="1668827"/>
            <a:ext cx="4360799" cy="2380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2. Signal Generation &amp; </a:t>
            </a:r>
            <a:r>
              <a:rPr lang="en-US" sz="1700" b="1" dirty="0" err="1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Backtesting</a:t>
            </a:r>
            <a:r>
              <a:rPr lang="en-US" sz="1700" b="1" dirty="0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Engine</a:t>
            </a:r>
            <a:endParaRPr sz="17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Alpha Signal Strategies: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Threshold-based triggers and cross-sectional percentile ranking across universe.</a:t>
            </a:r>
            <a:endParaRPr sz="15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Event-Driven Backtest Engine: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Realistic execution engine modeling fill delays, order queues, and market liquidity.</a:t>
            </a:r>
            <a:endParaRPr sz="15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Transaction Costs &amp; Slippage: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Incorporate brokerage, Securities Transaction Tax (STT), stamp duty, and dynamic slippage.</a:t>
            </a:r>
            <a:endParaRPr sz="1500" dirty="0"/>
          </a:p>
        </p:txBody>
      </p:sp>
      <p:sp>
        <p:nvSpPr>
          <p:cNvPr id="259" name="Google Shape;259;p25"/>
          <p:cNvSpPr txBox="1"/>
          <p:nvPr/>
        </p:nvSpPr>
        <p:spPr>
          <a:xfrm>
            <a:off x="172325" y="4315300"/>
            <a:ext cx="4200900" cy="2328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3. Portfolio Construction &amp; Risk Control</a:t>
            </a:r>
            <a:endParaRPr sz="1700" b="1" dirty="0">
              <a:solidFill>
                <a:srgbClr val="94B6D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Allocation Schemes: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Equal-Weighting, Inverse Volatility Weighting, and Markowitz Mean-Variance Optimization.</a:t>
            </a:r>
            <a:endParaRPr sz="1500" dirty="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Risk &amp; Exposure Limits: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Maximum position limits</a:t>
            </a:r>
            <a:r>
              <a:rPr lang="en-US" sz="150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and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sector concentration constraints</a:t>
            </a:r>
            <a:endParaRPr lang="en-US" sz="1500" dirty="0">
              <a:solidFill>
                <a:srgbClr val="2B252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Rebalancing Logic: </a:t>
            </a:r>
            <a:r>
              <a:rPr lang="en-US" sz="15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Periodic calendar rebalancing paired with volatility-triggered rebalance thresholds.</a:t>
            </a:r>
            <a:endParaRPr sz="1500" dirty="0"/>
          </a:p>
        </p:txBody>
      </p:sp>
      <p:sp>
        <p:nvSpPr>
          <p:cNvPr id="261" name="Google Shape;261;p25"/>
          <p:cNvSpPr txBox="1"/>
          <p:nvPr/>
        </p:nvSpPr>
        <p:spPr>
          <a:xfrm>
            <a:off x="4799925" y="4315297"/>
            <a:ext cx="4200900" cy="18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4. Performance Dashboard &amp; Deployment</a:t>
            </a:r>
            <a:endParaRPr sz="17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Institutional Tear Sheets: 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Automated calculation of Sharpe, Sortino, Calmar ratios, Maximum Drawdown, and Win Rate.</a:t>
            </a:r>
            <a:endParaRPr sz="1500"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Automated Production Scheduling: </a:t>
            </a:r>
            <a:r>
              <a:rPr lang="en-US" sz="150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Scheduler</a:t>
            </a:r>
            <a:r>
              <a:rPr lang="en-US" sz="15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executing daily market ingestion, feature updates, and signal logs.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500"/>
              <a:buFont typeface="Twentieth Century"/>
              <a:buNone/>
            </a:pPr>
            <a:r>
              <a:rPr lang="en-US" sz="2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Conclusion &amp; Expected Outcomes</a:t>
            </a:r>
            <a:endParaRPr/>
          </a:p>
        </p:txBody>
      </p:sp>
      <p:sp>
        <p:nvSpPr>
          <p:cNvPr id="267" name="Google Shape;267;p26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373850" y="1763075"/>
            <a:ext cx="4079400" cy="48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Weeks 1–6: </a:t>
            </a:r>
            <a:endParaRPr sz="2000" b="1" dirty="0">
              <a:solidFill>
                <a:srgbClr val="DD8047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DD804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Enterprise Foundation Established</a:t>
            </a:r>
            <a:endParaRPr sz="1900"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Foundation: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Completed the</a:t>
            </a:r>
            <a:r>
              <a:rPr lang="en-US" sz="160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failure-prone phase of quantitative modeling: robust, production-grade data infrastructure.</a:t>
            </a:r>
            <a:endParaRPr sz="1800"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6 Operational Architectural Layers: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Successfully implemented and validated database schema, ingestion connectors, validation rules, parquet lake, feature engineering, and repository CRUD.</a:t>
            </a:r>
            <a:endParaRPr sz="1800"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194 Verified Automated Tests: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100% test coverage across </a:t>
            </a:r>
            <a:r>
              <a:rPr lang="en-US" sz="1600" dirty="0" err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db</a:t>
            </a:r>
            <a:r>
              <a:rPr lang="en-US" sz="160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operations, transaction rollback isolation, and </a:t>
            </a:r>
            <a:r>
              <a:rPr lang="en-US" sz="160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pipeline consistency.</a:t>
            </a:r>
            <a:endParaRPr sz="1800"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Elimination of Pitfalls: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Eliminated unvalidated data, lookahead leakage</a:t>
            </a:r>
            <a:r>
              <a:rPr lang="en-US" sz="160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due </a:t>
            </a:r>
            <a:r>
              <a:rPr lang="en-US" sz="1600" b="0" dirty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unstructured CSV sprawl.</a:t>
            </a:r>
            <a:endParaRPr sz="1800" dirty="0"/>
          </a:p>
        </p:txBody>
      </p:sp>
      <p:sp>
        <p:nvSpPr>
          <p:cNvPr id="271" name="Google Shape;271;p26"/>
          <p:cNvSpPr txBox="1"/>
          <p:nvPr/>
        </p:nvSpPr>
        <p:spPr>
          <a:xfrm>
            <a:off x="4809675" y="1878425"/>
            <a:ext cx="4213800" cy="42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Week 7-13:</a:t>
            </a:r>
            <a:endParaRPr sz="2000" b="1">
              <a:solidFill>
                <a:srgbClr val="94B6D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94B6D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Expected Outcomes</a:t>
            </a:r>
            <a:endParaRPr sz="20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End-to-End Quantitative Platform: </a:t>
            </a:r>
            <a:r>
              <a:rPr lang="en-US" sz="160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An </a:t>
            </a:r>
            <a:r>
              <a:rPr lang="en-US" sz="16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institutional-grade research platform capable of ingesting market feeds, generating machine learning forecasts, and executing realistic backtests.</a:t>
            </a:r>
            <a:endParaRPr sz="16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Realistic Alpha Evaluation: </a:t>
            </a:r>
            <a:r>
              <a:rPr lang="en-US" sz="16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Event-driven simulation accounting for brokerage, slippage, and STT guarantees backtest results reflect true market tradeability.</a:t>
            </a:r>
            <a:endParaRPr sz="160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Demonstration of Software Rigor: </a:t>
            </a:r>
            <a:r>
              <a:rPr lang="en-US" sz="1600" b="0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Serves as a credible demonstration of production-grade financial ML engineering, architectural discipline, and reproducible science.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B2523"/>
              </a:buClr>
              <a:buSzPts val="2500"/>
              <a:buFont typeface="Twentieth Century"/>
              <a:buNone/>
            </a:pPr>
            <a:r>
              <a:rPr lang="en-US" sz="2500" b="1">
                <a:solidFill>
                  <a:srgbClr val="2B252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References</a:t>
            </a:r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ldNum" idx="12"/>
          </p:nvPr>
        </p:nvSpPr>
        <p:spPr>
          <a:xfrm>
            <a:off x="0" y="1272222"/>
            <a:ext cx="5334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152400" y="1676400"/>
            <a:ext cx="8839200" cy="50292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9050" cap="flat" cmpd="sng">
            <a:solidFill>
              <a:srgbClr val="DD8047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30000" dir="5400000" rotWithShape="0">
              <a:srgbClr val="000000">
                <a:alpha val="451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152400" y="1676400"/>
            <a:ext cx="89979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900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 Hilpisch,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for Finance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Mastering Data-Driven Finance, 2nd ed. Sebastopol, CA, USA: O'Reilly Media, 2018.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SQLAlchemy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Documentation, "SQLAlchemy 2.0 ORM Guide," SQLAlchemy Project, 2024. [Online]. Available: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https://docs.sqlalchemy.org/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Alembic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Documentation, "Database Migrations for SQLAlchemy," 2024. [Online]. Available: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https://alembic.sqlalchemy.org/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Apache Software Foundation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"Apache Parquet Documentation," 2024. [Online]. Available: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https://parquet.apache.org/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yfinance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Contributors, "yfinance: Yahoo Finance Market Data Downloader," GitHub Repository, 2024. [Online]. Available: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https://github.com/ranaroussi/yfinance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Stock Exchange of India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"NSE Market Data," 2024. [Online]. Available: 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https://www.nseindia.com/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1832</Words>
  <Application>Microsoft Office PowerPoint</Application>
  <PresentationFormat>On-screen Show (4:3)</PresentationFormat>
  <Paragraphs>191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Courier New</vt:lpstr>
      <vt:lpstr>Noto Sans Symbols</vt:lpstr>
      <vt:lpstr>Times New Roman</vt:lpstr>
      <vt:lpstr>Twentieth Century</vt:lpstr>
      <vt:lpstr>Median</vt:lpstr>
      <vt:lpstr>Median</vt:lpstr>
      <vt:lpstr>MACHINE LEARNING-POWERED PORTFOLIO ALLOCATION SYSTEM</vt:lpstr>
      <vt:lpstr>Portfolio Allocation Platform — Project Overview</vt:lpstr>
      <vt:lpstr>Problem Statement — The Financial ML Reliability Gap</vt:lpstr>
      <vt:lpstr>Literature Review &amp; Technical Gap Analysis</vt:lpstr>
      <vt:lpstr>Project Work Plan — 13-Week Roadmap</vt:lpstr>
      <vt:lpstr>Individual Contribution &amp; Responsibilities</vt:lpstr>
      <vt:lpstr>Work Done So Far — System Architecture</vt:lpstr>
      <vt:lpstr>Work Done So Far — Dataset Details &amp; Storage</vt:lpstr>
      <vt:lpstr>Work Done So Far — Pipeline Methodology</vt:lpstr>
      <vt:lpstr>Work Done So Far — Validation Results</vt:lpstr>
      <vt:lpstr>Work to be Done — Predictive Engine (Weeks 7–13)</vt:lpstr>
      <vt:lpstr>Conclusion &amp; Expected Outcomes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Arnav Purohit</cp:lastModifiedBy>
  <cp:revision>3</cp:revision>
  <dcterms:modified xsi:type="dcterms:W3CDTF">2026-09-07T07:55:48Z</dcterms:modified>
</cp:coreProperties>
</file>